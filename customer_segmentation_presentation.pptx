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8" r:id="rId8"/>
    <p:sldId id="265" r:id="rId9"/>
    <p:sldId id="269" r:id="rId10"/>
    <p:sldId id="263" r:id="rId11"/>
    <p:sldId id="271" r:id="rId12"/>
    <p:sldId id="266" r:id="rId13"/>
    <p:sldId id="270" r:id="rId14"/>
    <p:sldId id="264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574986"/>
          </a:xfrm>
        </p:spPr>
        <p:txBody>
          <a:bodyPr>
            <a:normAutofit/>
          </a:bodyPr>
          <a:lstStyle/>
          <a:p>
            <a:r>
              <a:rPr dirty="0"/>
              <a:t>Customer Segmentation using K-Means and DBSCAN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376" y="3493008"/>
            <a:ext cx="8156448" cy="21671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GB" dirty="0" smtClean="0"/>
              <a:t>  									</a:t>
            </a:r>
            <a:r>
              <a:rPr dirty="0" smtClean="0"/>
              <a:t>Purushottam Raj &amp;</a:t>
            </a:r>
            <a:endParaRPr lang="en-GB" dirty="0" smtClean="0"/>
          </a:p>
          <a:p>
            <a:pPr marL="0" indent="0">
              <a:buNone/>
            </a:pPr>
            <a:r>
              <a:rPr dirty="0" smtClean="0"/>
              <a:t> </a:t>
            </a:r>
            <a:r>
              <a:rPr lang="en-GB" dirty="0" smtClean="0"/>
              <a:t>  									</a:t>
            </a:r>
            <a:r>
              <a:rPr dirty="0" err="1" smtClean="0"/>
              <a:t>Rajan</a:t>
            </a:r>
            <a:r>
              <a:rPr dirty="0" smtClean="0"/>
              <a:t> </a:t>
            </a:r>
            <a:r>
              <a:rPr dirty="0" err="1" smtClean="0"/>
              <a:t>Neupane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Customer segmentation helps businesses understand different customer groups.</a:t>
            </a:r>
          </a:p>
          <a:p>
            <a:pPr marL="0" indent="0">
              <a:buNone/>
            </a:pPr>
            <a:r>
              <a:rPr sz="2800" dirty="0"/>
              <a:t>• </a:t>
            </a:r>
            <a:r>
              <a:rPr lang="en-GB" sz="2800" dirty="0"/>
              <a:t>A</a:t>
            </a:r>
            <a:r>
              <a:rPr sz="2800" dirty="0" err="1" smtClean="0"/>
              <a:t>nalyzes</a:t>
            </a:r>
            <a:r>
              <a:rPr sz="2800" dirty="0" smtClean="0"/>
              <a:t> </a:t>
            </a:r>
            <a:r>
              <a:rPr sz="2800" dirty="0"/>
              <a:t>customer behavior based on income and spending patterns.</a:t>
            </a:r>
          </a:p>
          <a:p>
            <a:pPr marL="0" indent="0">
              <a:buNone/>
            </a:pPr>
            <a:r>
              <a:rPr sz="2800" dirty="0"/>
              <a:t>• Clustering algorithms can automatically group similar customers.</a:t>
            </a:r>
          </a:p>
          <a:p>
            <a:pPr marL="0" indent="0">
              <a:buNone/>
            </a:pPr>
            <a:r>
              <a:rPr sz="2800" dirty="0"/>
              <a:t>• This project uses machine learning for customer segmentation.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Businesses need to understand customer purchasing behavior.</a:t>
            </a:r>
          </a:p>
          <a:p>
            <a:pPr marL="0" indent="0">
              <a:buNone/>
            </a:pPr>
            <a:r>
              <a:rPr sz="2800" dirty="0" smtClean="0"/>
              <a:t>• </a:t>
            </a:r>
            <a:r>
              <a:rPr sz="2800" dirty="0"/>
              <a:t>Different customers have different spending habits.</a:t>
            </a:r>
          </a:p>
          <a:p>
            <a:pPr marL="0" indent="0">
              <a:buNone/>
            </a:pPr>
            <a:r>
              <a:rPr sz="2800" dirty="0"/>
              <a:t>• Identifying these groups improves marketing strategies.</a:t>
            </a:r>
          </a:p>
          <a:p>
            <a:pPr marL="0" indent="0">
              <a:buNone/>
            </a:pPr>
            <a:r>
              <a:rPr sz="2800" dirty="0" smtClean="0"/>
              <a:t> </a:t>
            </a:r>
            <a:r>
              <a:rPr sz="2800" dirty="0"/>
              <a:t>Clustering helps discover hidden patterns in customer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Businesses often have customer data but do not analyze it effectively.</a:t>
            </a:r>
          </a:p>
          <a:p>
            <a:pPr marL="0" indent="0">
              <a:buNone/>
            </a:pPr>
            <a:r>
              <a:rPr sz="2800" dirty="0"/>
              <a:t>• Goal: Segment customers based on spending </a:t>
            </a:r>
            <a:r>
              <a:rPr sz="2800" dirty="0" err="1" smtClean="0"/>
              <a:t>behavio</a:t>
            </a:r>
            <a:r>
              <a:rPr lang="en-GB" sz="2800" dirty="0" smtClean="0"/>
              <a:t>u</a:t>
            </a:r>
            <a:r>
              <a:rPr sz="2800" dirty="0" smtClean="0"/>
              <a:t>r</a:t>
            </a:r>
            <a:r>
              <a:rPr lang="en-GB" sz="2800" dirty="0" smtClean="0"/>
              <a:t> and annual income.</a:t>
            </a:r>
            <a:endParaRPr sz="2800" dirty="0"/>
          </a:p>
          <a:p>
            <a:pPr marL="0" indent="0">
              <a:buNone/>
            </a:pPr>
            <a:r>
              <a:rPr sz="2800" dirty="0"/>
              <a:t>• Apply K-Means and DBSCAN clustering algorithms.</a:t>
            </a:r>
          </a:p>
          <a:p>
            <a:pPr marL="0" indent="0">
              <a:buNone/>
            </a:pPr>
            <a:r>
              <a:rPr sz="2800" dirty="0"/>
              <a:t>• Evaluate results using Silhouette Score.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Dataset: Mall Customers Dataset (</a:t>
            </a:r>
            <a:r>
              <a:rPr sz="2800" dirty="0" err="1"/>
              <a:t>Kaggle</a:t>
            </a:r>
            <a:r>
              <a:rPr sz="2800" dirty="0"/>
              <a:t>)</a:t>
            </a:r>
          </a:p>
          <a:p>
            <a:r>
              <a:rPr sz="2800" dirty="0"/>
              <a:t>Attributes:</a:t>
            </a:r>
          </a:p>
          <a:p>
            <a:pPr marL="0" indent="0">
              <a:buNone/>
            </a:pPr>
            <a:r>
              <a:rPr lang="en-GB" sz="2800" dirty="0" smtClean="0"/>
              <a:t>        </a:t>
            </a:r>
            <a:r>
              <a:rPr sz="2800" dirty="0" smtClean="0"/>
              <a:t>Customer </a:t>
            </a:r>
            <a:r>
              <a:rPr sz="2800" dirty="0"/>
              <a:t>ID</a:t>
            </a:r>
          </a:p>
          <a:p>
            <a:pPr marL="0" indent="0">
              <a:buNone/>
            </a:pPr>
            <a:r>
              <a:rPr lang="en-GB" sz="2800" dirty="0" smtClean="0"/>
              <a:t>        </a:t>
            </a:r>
            <a:r>
              <a:rPr sz="2800" dirty="0" smtClean="0"/>
              <a:t>Gender</a:t>
            </a:r>
          </a:p>
          <a:p>
            <a:pPr marL="0" indent="0">
              <a:buNone/>
            </a:pPr>
            <a:r>
              <a:rPr lang="en-GB" sz="2800" dirty="0" smtClean="0"/>
              <a:t>        </a:t>
            </a:r>
            <a:r>
              <a:rPr sz="2800" dirty="0" smtClean="0"/>
              <a:t>Age</a:t>
            </a:r>
          </a:p>
          <a:p>
            <a:pPr marL="0" indent="0">
              <a:buNone/>
            </a:pPr>
            <a:r>
              <a:rPr lang="en-GB" sz="2800" dirty="0" smtClean="0"/>
              <a:t>        </a:t>
            </a:r>
            <a:r>
              <a:rPr sz="2800" dirty="0" smtClean="0"/>
              <a:t>Annual Income (k$)</a:t>
            </a:r>
          </a:p>
          <a:p>
            <a:pPr marL="0" indent="0">
              <a:buNone/>
            </a:pPr>
            <a:r>
              <a:rPr lang="en-GB" sz="2800" dirty="0"/>
              <a:t>	</a:t>
            </a:r>
            <a:r>
              <a:rPr lang="en-GB" sz="2800" dirty="0" smtClean="0"/>
              <a:t>   </a:t>
            </a:r>
            <a:r>
              <a:rPr sz="2800" dirty="0" smtClean="0"/>
              <a:t>Spending </a:t>
            </a:r>
            <a:r>
              <a:rPr sz="2800" dirty="0"/>
              <a:t>Score (1–100)</a:t>
            </a:r>
          </a:p>
          <a:p>
            <a:r>
              <a:rPr sz="2800" dirty="0"/>
              <a:t>Features used for clustering: Income &amp; Spending Score.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Divides </a:t>
            </a:r>
            <a:r>
              <a:rPr sz="2800" dirty="0"/>
              <a:t>dataset into K clusters.</a:t>
            </a:r>
          </a:p>
          <a:p>
            <a:r>
              <a:rPr sz="2800" dirty="0" smtClean="0"/>
              <a:t>Uses </a:t>
            </a:r>
            <a:r>
              <a:rPr sz="2800" dirty="0"/>
              <a:t>centroid-based clustering.</a:t>
            </a:r>
          </a:p>
          <a:p>
            <a:r>
              <a:rPr sz="2800" dirty="0" smtClean="0"/>
              <a:t>Customers </a:t>
            </a:r>
            <a:r>
              <a:rPr sz="2800" dirty="0"/>
              <a:t>assigned to nearest centroid.</a:t>
            </a:r>
          </a:p>
          <a:p>
            <a:r>
              <a:rPr sz="2800" dirty="0" smtClean="0"/>
              <a:t>Optimal </a:t>
            </a:r>
            <a:r>
              <a:rPr sz="2800" dirty="0"/>
              <a:t>K determined using Elbow Method.</a:t>
            </a:r>
          </a:p>
          <a:p>
            <a:r>
              <a:rPr sz="2800" dirty="0" smtClean="0"/>
              <a:t>In </a:t>
            </a:r>
            <a:r>
              <a:rPr sz="2800" dirty="0"/>
              <a:t>this project K = 5 clusters.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27698"/>
            <a:ext cx="8851906" cy="705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55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5 Customer Segments Identified: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sz="2800" dirty="0" smtClean="0"/>
              <a:t>1.</a:t>
            </a:r>
            <a:r>
              <a:rPr sz="2800" dirty="0" smtClean="0"/>
              <a:t>Premium </a:t>
            </a:r>
            <a:r>
              <a:rPr sz="2800" dirty="0"/>
              <a:t>Customers (High Income, High </a:t>
            </a:r>
            <a:r>
              <a:rPr lang="en-GB" sz="2800" dirty="0" smtClean="0"/>
              <a:t>    			    </a:t>
            </a:r>
            <a:r>
              <a:rPr sz="2800" dirty="0" smtClean="0"/>
              <a:t>Spending</a:t>
            </a:r>
            <a:r>
              <a:rPr sz="2800" dirty="0"/>
              <a:t>)</a:t>
            </a:r>
          </a:p>
          <a:p>
            <a:pPr marL="0" indent="0">
              <a:buNone/>
            </a:pPr>
            <a:r>
              <a:rPr lang="en-GB" sz="2800" dirty="0"/>
              <a:t>	</a:t>
            </a:r>
            <a:r>
              <a:rPr lang="en-GB" sz="2800" dirty="0" smtClean="0"/>
              <a:t>2.</a:t>
            </a:r>
            <a:r>
              <a:rPr sz="2800" dirty="0" smtClean="0"/>
              <a:t>Average </a:t>
            </a:r>
            <a:r>
              <a:rPr sz="2800" dirty="0"/>
              <a:t>Customers</a:t>
            </a:r>
          </a:p>
          <a:p>
            <a:pPr marL="0" indent="0">
              <a:buNone/>
            </a:pPr>
            <a:r>
              <a:rPr lang="en-GB" sz="2800" dirty="0"/>
              <a:t>	</a:t>
            </a:r>
            <a:r>
              <a:rPr lang="en-GB" sz="2800" dirty="0" smtClean="0"/>
              <a:t>3.</a:t>
            </a:r>
            <a:r>
              <a:rPr sz="2800" dirty="0" smtClean="0"/>
              <a:t>Low </a:t>
            </a:r>
            <a:r>
              <a:rPr sz="2800" dirty="0"/>
              <a:t>Income High Spending</a:t>
            </a:r>
          </a:p>
          <a:p>
            <a:pPr marL="0" indent="0">
              <a:buNone/>
            </a:pPr>
            <a:r>
              <a:rPr lang="en-GB" sz="2800" dirty="0"/>
              <a:t>	</a:t>
            </a:r>
            <a:r>
              <a:rPr lang="en-GB" sz="2800" dirty="0" smtClean="0"/>
              <a:t>4.</a:t>
            </a:r>
            <a:r>
              <a:rPr sz="2800" dirty="0" smtClean="0"/>
              <a:t>High </a:t>
            </a:r>
            <a:r>
              <a:rPr sz="2800" dirty="0"/>
              <a:t>Income Low Spending</a:t>
            </a:r>
          </a:p>
          <a:p>
            <a:pPr marL="0" indent="0">
              <a:buNone/>
            </a:pPr>
            <a:r>
              <a:rPr lang="en-GB" sz="2800" dirty="0"/>
              <a:t>	</a:t>
            </a:r>
            <a:r>
              <a:rPr lang="en-GB" sz="2800" dirty="0" smtClean="0"/>
              <a:t>5.</a:t>
            </a:r>
            <a:r>
              <a:rPr sz="2800" dirty="0" smtClean="0"/>
              <a:t>Low </a:t>
            </a:r>
            <a:r>
              <a:rPr sz="2800" dirty="0"/>
              <a:t>Income Low Spending</a:t>
            </a:r>
          </a:p>
          <a:p>
            <a:r>
              <a:rPr dirty="0"/>
              <a:t>K-Means produced well-separated clusters.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80" y="111760"/>
            <a:ext cx="8289119" cy="652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2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Density-based </a:t>
            </a:r>
            <a:r>
              <a:rPr sz="2800" dirty="0"/>
              <a:t>clustering algorithm.</a:t>
            </a:r>
          </a:p>
          <a:p>
            <a:r>
              <a:rPr sz="2800" dirty="0" smtClean="0"/>
              <a:t>Groups </a:t>
            </a:r>
            <a:r>
              <a:rPr sz="2800" dirty="0"/>
              <a:t>points based on neighborhood density.</a:t>
            </a:r>
          </a:p>
          <a:p>
            <a:r>
              <a:rPr sz="2800" dirty="0" smtClean="0"/>
              <a:t>Does </a:t>
            </a:r>
            <a:r>
              <a:rPr sz="2800" dirty="0"/>
              <a:t>not require predefined cluster number.</a:t>
            </a:r>
          </a:p>
          <a:p>
            <a:r>
              <a:rPr sz="2800" dirty="0" smtClean="0"/>
              <a:t>Can </a:t>
            </a:r>
            <a:r>
              <a:rPr sz="2800" dirty="0"/>
              <a:t>detect noise and outliers.</a:t>
            </a:r>
          </a:p>
          <a:p>
            <a:r>
              <a:rPr sz="2800" dirty="0" smtClean="0"/>
              <a:t>Uses </a:t>
            </a:r>
            <a:r>
              <a:rPr sz="2800" dirty="0"/>
              <a:t>parameters: </a:t>
            </a:r>
            <a:r>
              <a:rPr sz="2800" dirty="0" err="1"/>
              <a:t>eps</a:t>
            </a:r>
            <a:r>
              <a:rPr sz="2800" dirty="0"/>
              <a:t> and </a:t>
            </a:r>
            <a:r>
              <a:rPr sz="2800" dirty="0" err="1"/>
              <a:t>min_samples</a:t>
            </a:r>
            <a:r>
              <a:rPr sz="28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8374"/>
            <a:ext cx="8229600" cy="1143000"/>
          </a:xfrm>
        </p:spPr>
        <p:txBody>
          <a:bodyPr>
            <a:normAutofit/>
          </a:bodyPr>
          <a:lstStyle/>
          <a:p>
            <a:r>
              <a:rPr lang="en-GB" sz="2800" dirty="0" smtClean="0"/>
              <a:t>K-Nearest Neighbours(KNN)</a:t>
            </a:r>
            <a:endParaRPr lang="en-GB" sz="2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960" y="1316301"/>
            <a:ext cx="7467296" cy="568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3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DBSCAN detected: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sz="2800" dirty="0" smtClean="0"/>
              <a:t>1.</a:t>
            </a:r>
            <a:r>
              <a:rPr sz="2800" dirty="0" smtClean="0"/>
              <a:t>Cluster </a:t>
            </a:r>
            <a:r>
              <a:rPr sz="2800" dirty="0"/>
              <a:t>0: Average Customers</a:t>
            </a:r>
          </a:p>
          <a:p>
            <a:pPr marL="0" indent="0">
              <a:buNone/>
            </a:pPr>
            <a:r>
              <a:rPr lang="en-GB" sz="2800" dirty="0"/>
              <a:t>	</a:t>
            </a:r>
            <a:r>
              <a:rPr lang="en-GB" sz="2800" dirty="0" smtClean="0"/>
              <a:t>2.</a:t>
            </a:r>
            <a:r>
              <a:rPr sz="2800" dirty="0" smtClean="0"/>
              <a:t>Cluster </a:t>
            </a:r>
            <a:r>
              <a:rPr sz="2800" dirty="0"/>
              <a:t>1: High Income High Spending</a:t>
            </a:r>
          </a:p>
          <a:p>
            <a:pPr marL="0" indent="0">
              <a:buNone/>
            </a:pPr>
            <a:r>
              <a:rPr lang="en-GB" sz="2800" dirty="0"/>
              <a:t>	</a:t>
            </a:r>
            <a:r>
              <a:rPr lang="en-GB" sz="2800" dirty="0" smtClean="0"/>
              <a:t>3.</a:t>
            </a:r>
            <a:r>
              <a:rPr sz="2800" dirty="0" smtClean="0"/>
              <a:t>Noise </a:t>
            </a:r>
            <a:r>
              <a:rPr sz="2800" dirty="0"/>
              <a:t>Points (-1): </a:t>
            </a:r>
            <a:r>
              <a:rPr sz="2800" dirty="0" smtClean="0"/>
              <a:t>Outliers</a:t>
            </a:r>
            <a:endParaRPr lang="en-GB" sz="2800" dirty="0" smtClean="0"/>
          </a:p>
          <a:p>
            <a:pPr marL="0" indent="0">
              <a:buNone/>
            </a:pPr>
            <a:endParaRPr sz="2800" dirty="0"/>
          </a:p>
          <a:p>
            <a:r>
              <a:rPr dirty="0"/>
              <a:t>Useful for identifying irregular patterns and anomalies.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56" y="107182"/>
            <a:ext cx="8046596" cy="633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4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Evaluation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Silhouette Score:</a:t>
            </a:r>
          </a:p>
          <a:p>
            <a:pPr marL="0" indent="0">
              <a:buNone/>
            </a:pPr>
            <a:r>
              <a:rPr lang="en-GB" sz="2800" dirty="0" smtClean="0"/>
              <a:t>	</a:t>
            </a:r>
            <a:r>
              <a:rPr sz="2800" dirty="0" smtClean="0"/>
              <a:t>• </a:t>
            </a:r>
            <a:r>
              <a:rPr sz="2800" dirty="0"/>
              <a:t>Measures cluster separation quality.</a:t>
            </a:r>
          </a:p>
          <a:p>
            <a:pPr marL="0" indent="0">
              <a:buNone/>
            </a:pPr>
            <a:r>
              <a:rPr lang="en-GB" sz="2800" dirty="0" smtClean="0"/>
              <a:t>	</a:t>
            </a:r>
            <a:r>
              <a:rPr sz="2800" dirty="0" smtClean="0"/>
              <a:t>• </a:t>
            </a:r>
            <a:r>
              <a:rPr sz="2800" dirty="0"/>
              <a:t>Range: -1 to 1</a:t>
            </a:r>
          </a:p>
          <a:p>
            <a:pPr marL="0" indent="0">
              <a:buNone/>
            </a:pPr>
            <a:r>
              <a:rPr lang="en-GB" sz="2800" dirty="0" smtClean="0"/>
              <a:t>	</a:t>
            </a:r>
            <a:r>
              <a:rPr sz="2800" dirty="0" smtClean="0"/>
              <a:t>• Higher </a:t>
            </a:r>
            <a:r>
              <a:rPr sz="2800" dirty="0"/>
              <a:t>value means better clustering.</a:t>
            </a:r>
          </a:p>
          <a:p>
            <a:r>
              <a:rPr dirty="0"/>
              <a:t>Results:</a:t>
            </a:r>
          </a:p>
          <a:p>
            <a:pPr marL="457200" lvl="1" indent="0">
              <a:buNone/>
            </a:pPr>
            <a:r>
              <a:rPr dirty="0"/>
              <a:t>K-Means: 0.554</a:t>
            </a:r>
          </a:p>
          <a:p>
            <a:pPr marL="457200" lvl="1" indent="0">
              <a:buNone/>
            </a:pPr>
            <a:r>
              <a:rPr dirty="0"/>
              <a:t>DBSCAN: 0.387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Customer segmentation was performed using </a:t>
            </a:r>
            <a:r>
              <a:rPr lang="en-GB" sz="2800" dirty="0" smtClean="0"/>
              <a:t>             </a:t>
            </a:r>
            <a:r>
              <a:rPr sz="2800" dirty="0" smtClean="0"/>
              <a:t>clustering</a:t>
            </a:r>
            <a:r>
              <a:rPr sz="2800" dirty="0"/>
              <a:t>.</a:t>
            </a:r>
          </a:p>
          <a:p>
            <a:pPr marL="0" indent="0">
              <a:buNone/>
            </a:pPr>
            <a:r>
              <a:rPr sz="2800" dirty="0"/>
              <a:t>• K-Means and DBSCAN algorithms were compared.</a:t>
            </a:r>
          </a:p>
          <a:p>
            <a:pPr marL="0" indent="0">
              <a:buNone/>
            </a:pPr>
            <a:r>
              <a:rPr sz="2800" dirty="0"/>
              <a:t>• K-Means achieved higher silhouette score.</a:t>
            </a:r>
          </a:p>
          <a:p>
            <a:pPr marL="0" indent="0">
              <a:buNone/>
            </a:pPr>
            <a:r>
              <a:rPr sz="2800" dirty="0"/>
              <a:t>• DBSCAN detected outliers effectively.</a:t>
            </a:r>
          </a:p>
          <a:p>
            <a:pPr marL="0" indent="0">
              <a:buNone/>
            </a:pPr>
            <a:r>
              <a:rPr sz="2800" dirty="0"/>
              <a:t>• Customer segmentation helps businesses design targeted marketing strategies.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283</Words>
  <Application>Microsoft Office PowerPoint</Application>
  <PresentationFormat>On-screen Show (4:3)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Customer Segmentation using K-Means and DBSCAN</vt:lpstr>
      <vt:lpstr>Introduction</vt:lpstr>
      <vt:lpstr>Motivation</vt:lpstr>
      <vt:lpstr>Problem Definition &amp; Objectives</vt:lpstr>
      <vt:lpstr>Dataset Description</vt:lpstr>
      <vt:lpstr>K-Means Clustering</vt:lpstr>
      <vt:lpstr>PowerPoint Presentation</vt:lpstr>
      <vt:lpstr>K-Means Results</vt:lpstr>
      <vt:lpstr>PowerPoint Presentation</vt:lpstr>
      <vt:lpstr>DBSCAN Clustering</vt:lpstr>
      <vt:lpstr>K-Nearest Neighbours(KNN)</vt:lpstr>
      <vt:lpstr>DBSCAN Results</vt:lpstr>
      <vt:lpstr>PowerPoint Presentation</vt:lpstr>
      <vt:lpstr>Evaluation Metric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using K-Means and DBSCAN</dc:title>
  <dc:subject/>
  <dc:creator/>
  <cp:keywords/>
  <dc:description>generated using python-pptx</dc:description>
  <cp:lastModifiedBy>Dell</cp:lastModifiedBy>
  <cp:revision>12</cp:revision>
  <dcterms:created xsi:type="dcterms:W3CDTF">2013-01-27T09:14:16Z</dcterms:created>
  <dcterms:modified xsi:type="dcterms:W3CDTF">2026-03-17T07:08:00Z</dcterms:modified>
  <cp:category/>
</cp:coreProperties>
</file>